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95" r:id="rId2"/>
    <p:sldId id="497" r:id="rId3"/>
    <p:sldId id="509" r:id="rId4"/>
    <p:sldId id="500" r:id="rId5"/>
    <p:sldId id="499" r:id="rId6"/>
    <p:sldId id="501" r:id="rId7"/>
    <p:sldId id="502" r:id="rId8"/>
    <p:sldId id="504" r:id="rId9"/>
    <p:sldId id="507" r:id="rId10"/>
    <p:sldId id="508" r:id="rId11"/>
    <p:sldId id="503" r:id="rId12"/>
    <p:sldId id="505" r:id="rId13"/>
    <p:sldId id="498" r:id="rId14"/>
    <p:sldId id="50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B01"/>
    <a:srgbClr val="990000"/>
    <a:srgbClr val="FF0000"/>
    <a:srgbClr val="5B9BD5"/>
    <a:srgbClr val="1F4E79"/>
    <a:srgbClr val="203864"/>
    <a:srgbClr val="0070C0"/>
    <a:srgbClr val="00008C"/>
    <a:srgbClr val="6D6D2B"/>
    <a:srgbClr val="9E9E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201" autoAdjust="0"/>
    <p:restoredTop sz="94660"/>
  </p:normalViewPr>
  <p:slideViewPr>
    <p:cSldViewPr snapToGrid="0">
      <p:cViewPr>
        <p:scale>
          <a:sx n="150" d="100"/>
          <a:sy n="150" d="100"/>
        </p:scale>
        <p:origin x="114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F20C66-05F9-4FC2-8866-8533A9375BA8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CA468-388C-47D7-9925-09019A2062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9424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4147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7496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2147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3902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4767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4669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089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2258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3122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794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1398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F3A2CB-D467-4583-BEBA-5A75E3413D57}" type="datetimeFigureOut">
              <a:rPr lang="en-IN" smtClean="0"/>
              <a:t>14-11-2025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845427-BEBB-4AB0-9F34-3E8A29AED0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5204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1AA66-9BEB-C368-73D2-C0111BFCE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2F0146-C64F-15D5-C270-548AA273FE4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6F1163E3-8396-4D22-271F-1E87C18EA6A7}"/>
              </a:ext>
            </a:extLst>
          </p:cNvPr>
          <p:cNvSpPr txBox="1">
            <a:spLocks/>
          </p:cNvSpPr>
          <p:nvPr/>
        </p:nvSpPr>
        <p:spPr>
          <a:xfrm>
            <a:off x="200829" y="541680"/>
            <a:ext cx="11790342" cy="631632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endParaRPr lang="en-US" sz="5400" b="1" dirty="0">
              <a:solidFill>
                <a:schemeClr val="bg1"/>
              </a:solidFill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US" sz="5400" b="1" dirty="0">
              <a:solidFill>
                <a:schemeClr val="bg1"/>
              </a:solidFill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US" sz="5400" b="1" dirty="0">
              <a:solidFill>
                <a:schemeClr val="bg1"/>
              </a:solidFill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r>
              <a:rPr lang="en-US" sz="5400" b="1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Determination of </a:t>
            </a:r>
            <a:r>
              <a:rPr lang="el-GR" sz="5400" b="1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α</a:t>
            </a:r>
            <a:r>
              <a:rPr lang="en-US" sz="5400" b="1" baseline="-25000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</a:t>
            </a:r>
            <a:r>
              <a:rPr lang="en-US" sz="5400" b="1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5400" b="1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from Event Shapes</a:t>
            </a:r>
          </a:p>
          <a:p>
            <a:pPr algn="ctr">
              <a:lnSpc>
                <a:spcPct val="100000"/>
              </a:lnSpc>
            </a:pP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14</a:t>
            </a:r>
            <a:r>
              <a:rPr lang="en-US" sz="2800" baseline="30000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th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November 2025</a:t>
            </a:r>
          </a:p>
          <a:p>
            <a:pPr algn="ctr">
              <a:lnSpc>
                <a:spcPct val="100000"/>
              </a:lnSpc>
            </a:pPr>
            <a:endParaRPr lang="en-US" sz="4800" b="1" dirty="0">
              <a:solidFill>
                <a:schemeClr val="bg1"/>
              </a:solidFill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US" sz="4800" b="1" dirty="0">
              <a:solidFill>
                <a:schemeClr val="bg1"/>
              </a:solidFill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IN" sz="4800" b="1" dirty="0">
              <a:solidFill>
                <a:schemeClr val="bg1"/>
              </a:solidFill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263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7550-0662-0AC3-6AC2-F9A57F27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896B929-CF88-04D5-A0FC-1E83AC055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Overview</a:t>
            </a:r>
            <a:endParaRPr lang="en-IN" sz="2800" b="1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B4ECE2-3F70-5495-4807-D2B4AEA43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75" y="1064608"/>
            <a:ext cx="7033490" cy="5571142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Objective is to extract </a:t>
            </a:r>
            <a:r>
              <a:rPr lang="el-GR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α</a:t>
            </a:r>
            <a:r>
              <a:rPr lang="en-US" sz="1800" baseline="-250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</a:t>
            </a: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at FCC-ee energies: 91.2, 160, 240, 365 GeV</a:t>
            </a:r>
          </a:p>
          <a:p>
            <a:pPr>
              <a:spcAft>
                <a:spcPts val="600"/>
              </a:spcAft>
            </a:pP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For validation with LEP data: Simulated 5 million samples at each energy without ISR with hadronisation</a:t>
            </a:r>
          </a:p>
          <a:p>
            <a:pPr>
              <a:spcAft>
                <a:spcPts val="600"/>
              </a:spcAft>
            </a:pP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For </a:t>
            </a:r>
            <a:r>
              <a:rPr lang="el-GR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α</a:t>
            </a:r>
            <a:r>
              <a:rPr lang="en-US" sz="1800" baseline="-250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</a:t>
            </a: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extraction: Simulated 1 million samples at each energy without ISR without hadronisation</a:t>
            </a:r>
          </a:p>
          <a:p>
            <a:pPr>
              <a:spcAft>
                <a:spcPts val="600"/>
              </a:spcAft>
            </a:pP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Only ee →</a:t>
            </a:r>
            <a:r>
              <a:rPr lang="el-GR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γ</a:t>
            </a: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Z channel has been selected (code 221) for these studies</a:t>
            </a:r>
          </a:p>
          <a:p>
            <a:pPr>
              <a:spcAft>
                <a:spcPts val="600"/>
              </a:spcAft>
            </a:pP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Differential distributions of (1-T) and C are compared to perturbative predictions at NNLO using the MINOS fitting routine in ROOT</a:t>
            </a:r>
          </a:p>
          <a:p>
            <a:pPr>
              <a:spcAft>
                <a:spcPts val="600"/>
              </a:spcAft>
            </a:pP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Values of </a:t>
            </a:r>
            <a:r>
              <a:rPr lang="el-GR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α</a:t>
            </a:r>
            <a:r>
              <a:rPr lang="en-US" sz="1800" baseline="-250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</a:t>
            </a: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extracted at each energy are averaged for a final value</a:t>
            </a:r>
          </a:p>
          <a:p>
            <a:pPr>
              <a:spcAft>
                <a:spcPts val="600"/>
              </a:spcAft>
            </a:pP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Results are compared with previous values obtained from ALEPH and L3 along with the 3-loop running prediction</a:t>
            </a:r>
          </a:p>
          <a:p>
            <a:pPr>
              <a:spcAft>
                <a:spcPts val="600"/>
              </a:spcAft>
            </a:pPr>
            <a:r>
              <a:rPr lang="en-US" sz="18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In this presentation, we briefly go through the implemented workflow</a:t>
            </a:r>
          </a:p>
          <a:p>
            <a:pPr>
              <a:spcAft>
                <a:spcPts val="600"/>
              </a:spcAft>
            </a:pPr>
            <a:endParaRPr lang="en-US" sz="1800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C7385-812E-6BE8-4C9F-F23A446485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1185"/>
          <a:stretch>
            <a:fillRect/>
          </a:stretch>
        </p:blipFill>
        <p:spPr>
          <a:xfrm>
            <a:off x="7523751" y="337606"/>
            <a:ext cx="4461773" cy="6331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925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A871A-9C54-C770-61AB-BF964F7EA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967FA75-04CA-AE07-56AA-9023FB52F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Validation with LEP data (5M samples with hadronisation)</a:t>
            </a:r>
            <a:endParaRPr lang="en-IN" sz="2800" b="1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3" name="Picture 2" descr="A graph of a number of cells&#10;&#10;AI-generated content may be incorrect.">
            <a:extLst>
              <a:ext uri="{FF2B5EF4-FFF2-40B4-BE49-F238E27FC236}">
                <a16:creationId xmlns:a16="http://schemas.microsoft.com/office/drawing/2014/main" id="{04FF4B86-3AE6-B865-2EC9-ACF99ACEEB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>
          <a:xfrm>
            <a:off x="163348" y="1114604"/>
            <a:ext cx="5932652" cy="5435932"/>
          </a:xfrm>
          <a:prstGeom prst="rect">
            <a:avLst/>
          </a:prstGeom>
        </p:spPr>
      </p:pic>
      <p:pic>
        <p:nvPicPr>
          <p:cNvPr id="4" name="Picture 3" descr="A graph of a number of cells&#10;&#10;AI-generated content may be incorrect.">
            <a:extLst>
              <a:ext uri="{FF2B5EF4-FFF2-40B4-BE49-F238E27FC236}">
                <a16:creationId xmlns:a16="http://schemas.microsoft.com/office/drawing/2014/main" id="{F04DF0E9-9D9D-6CFA-76CB-13E6FC216A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6096000" y="1114602"/>
            <a:ext cx="5932650" cy="5435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463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36077-6776-5546-D023-8F72499E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F283F346-BB06-1B3B-21F2-4C5AF4CDF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460" y="631545"/>
            <a:ext cx="3521204" cy="52274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E7901AE1-39D6-6B73-4687-62B5C84D2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Theory functions</a:t>
            </a:r>
            <a:endParaRPr lang="en-IN" sz="2800" b="1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3C3FA1-FDBE-08DD-CB13-11F04206D5E2}"/>
              </a:ext>
            </a:extLst>
          </p:cNvPr>
          <p:cNvSpPr txBox="1"/>
          <p:nvPr/>
        </p:nvSpPr>
        <p:spPr>
          <a:xfrm>
            <a:off x="7218461" y="323767"/>
            <a:ext cx="35212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Theory function for (1–T) and C-parameter</a:t>
            </a:r>
            <a:endParaRPr lang="en-GB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FACF3E-A192-EA16-9626-0023EE5C07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897"/>
          <a:stretch>
            <a:fillRect/>
          </a:stretch>
        </p:blipFill>
        <p:spPr>
          <a:xfrm>
            <a:off x="179987" y="955696"/>
            <a:ext cx="6087704" cy="43786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359838-2D4E-365C-F674-FE3102A05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987" y="5368172"/>
            <a:ext cx="6087704" cy="1143249"/>
          </a:xfrm>
          <a:prstGeom prst="rect">
            <a:avLst/>
          </a:prstGeom>
          <a:ln>
            <a:solidFill>
              <a:srgbClr val="FFC000"/>
            </a:solidFill>
          </a:ln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0493887-3386-6173-77F9-66E5C2B73C91}"/>
              </a:ext>
            </a:extLst>
          </p:cNvPr>
          <p:cNvSpPr/>
          <p:nvPr/>
        </p:nvSpPr>
        <p:spPr>
          <a:xfrm>
            <a:off x="428263" y="3446946"/>
            <a:ext cx="5474826" cy="462987"/>
          </a:xfrm>
          <a:prstGeom prst="round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FAFCEDF-5319-47B5-443A-3B476861D9DB}"/>
              </a:ext>
            </a:extLst>
          </p:cNvPr>
          <p:cNvSpPr/>
          <p:nvPr/>
        </p:nvSpPr>
        <p:spPr>
          <a:xfrm>
            <a:off x="7342353" y="4866104"/>
            <a:ext cx="3397312" cy="462987"/>
          </a:xfrm>
          <a:prstGeom prst="round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DA4BD02-CA58-42F1-F570-EB0DA8F06D0C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5903089" y="3678440"/>
            <a:ext cx="1439264" cy="141915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FCAF675-7122-C7F5-5F0A-5D5AF499FEED}"/>
              </a:ext>
            </a:extLst>
          </p:cNvPr>
          <p:cNvSpPr/>
          <p:nvPr/>
        </p:nvSpPr>
        <p:spPr>
          <a:xfrm>
            <a:off x="7342353" y="4242121"/>
            <a:ext cx="2177685" cy="566842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5220852-3D89-07F1-CA71-0B6686C2BA9D}"/>
              </a:ext>
            </a:extLst>
          </p:cNvPr>
          <p:cNvSpPr/>
          <p:nvPr/>
        </p:nvSpPr>
        <p:spPr>
          <a:xfrm>
            <a:off x="1851949" y="4601935"/>
            <a:ext cx="2714263" cy="727156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857057-2D64-8BF1-5722-90598F0DAD21}"/>
              </a:ext>
            </a:extLst>
          </p:cNvPr>
          <p:cNvSpPr txBox="1"/>
          <p:nvPr/>
        </p:nvSpPr>
        <p:spPr>
          <a:xfrm>
            <a:off x="8150829" y="5479544"/>
            <a:ext cx="2154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divide by bin width</a:t>
            </a:r>
            <a:endParaRPr lang="en-GB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D2700FDB-62C8-7A35-2922-DF423E5F3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428" y="6032523"/>
            <a:ext cx="5505658" cy="461110"/>
          </a:xfrm>
          <a:prstGeom prst="rect">
            <a:avLst/>
          </a:prstGeom>
          <a:ln>
            <a:solidFill>
              <a:srgbClr val="FFC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FF517E-71CE-CEE7-12F0-16C581B2FBC8}"/>
              </a:ext>
            </a:extLst>
          </p:cNvPr>
          <p:cNvSpPr txBox="1"/>
          <p:nvPr/>
        </p:nvSpPr>
        <p:spPr>
          <a:xfrm>
            <a:off x="3960793" y="2918460"/>
            <a:ext cx="2243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Perturbative expression with unbarred coefficients </a:t>
            </a:r>
            <a:endParaRPr lang="en-GB" sz="14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101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A37A6-D2E8-E9AE-2074-A1EF3B02A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4D1469-70A8-1B41-9EDE-5BB5EF62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Theory coefficients</a:t>
            </a:r>
            <a:endParaRPr lang="en-IN" sz="2800" b="1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5FB75B-D2A0-232C-66D9-490E56AA6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60" y="3782578"/>
            <a:ext cx="5021027" cy="2527728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DCAA49-082F-3988-C235-FEF8F8B74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0" y="1209734"/>
            <a:ext cx="2511707" cy="2527728"/>
          </a:xfrm>
          <a:prstGeom prst="rect">
            <a:avLst/>
          </a:prstGeom>
          <a:ln>
            <a:solidFill>
              <a:srgbClr val="990000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D1AD91B-327D-4EDF-FA9D-2C8D184B27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579" y="1268213"/>
            <a:ext cx="2209704" cy="5316016"/>
          </a:xfrm>
          <a:prstGeom prst="rect">
            <a:avLst/>
          </a:prstGeom>
          <a:ln>
            <a:solidFill>
              <a:srgbClr val="990000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025CB18-9547-E3AE-3E42-18EAABCA9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013" y="1268214"/>
            <a:ext cx="3643327" cy="5316016"/>
          </a:xfrm>
          <a:prstGeom prst="rect">
            <a:avLst/>
          </a:prstGeom>
          <a:ln>
            <a:solidFill>
              <a:srgbClr val="FFC000"/>
            </a:solidFill>
          </a:ln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F5F3DB-9FF3-7671-2D56-2694E9A774AD}"/>
              </a:ext>
            </a:extLst>
          </p:cNvPr>
          <p:cNvCxnSpPr>
            <a:stCxn id="10" idx="3"/>
          </p:cNvCxnSpPr>
          <p:nvPr/>
        </p:nvCxnSpPr>
        <p:spPr>
          <a:xfrm>
            <a:off x="5084687" y="5046442"/>
            <a:ext cx="1068892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79AA5FA-0153-9C7B-E48E-19374E916489}"/>
              </a:ext>
            </a:extLst>
          </p:cNvPr>
          <p:cNvSpPr txBox="1"/>
          <p:nvPr/>
        </p:nvSpPr>
        <p:spPr>
          <a:xfrm>
            <a:off x="2621861" y="3136247"/>
            <a:ext cx="25117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Unbarred coefficients </a:t>
            </a:r>
          </a:p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Weinzierl*</a:t>
            </a:r>
            <a:endParaRPr lang="en-GB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89C30E-40BE-158F-7056-349A49BE35D7}"/>
              </a:ext>
            </a:extLst>
          </p:cNvPr>
          <p:cNvSpPr txBox="1"/>
          <p:nvPr/>
        </p:nvSpPr>
        <p:spPr>
          <a:xfrm>
            <a:off x="6153579" y="842489"/>
            <a:ext cx="5974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structure for coefficients of Thrust and C-parameter</a:t>
            </a:r>
            <a:endParaRPr lang="en-GB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5087A1-528C-27FC-39F5-FEA648A25880}"/>
              </a:ext>
            </a:extLst>
          </p:cNvPr>
          <p:cNvSpPr txBox="1"/>
          <p:nvPr/>
        </p:nvSpPr>
        <p:spPr>
          <a:xfrm>
            <a:off x="69643" y="6477860"/>
            <a:ext cx="609696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S. Weinzierl, Event shapes and jet rates in electron-positron annihilation at NNLO, Journal of High Energy Physics 2009, 041–041 (2009)</a:t>
            </a:r>
          </a:p>
        </p:txBody>
      </p:sp>
    </p:spTree>
    <p:extLst>
      <p:ext uri="{BB962C8B-B14F-4D97-AF65-F5344CB8AC3E}">
        <p14:creationId xmlns:p14="http://schemas.microsoft.com/office/powerpoint/2010/main" val="3276187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C6D9-E29D-7522-2D2A-A74439CDE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C923478-951F-47B1-472C-B2CF5112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TF1 fits in ROOT</a:t>
            </a:r>
            <a:endParaRPr lang="en-IN" sz="2800" b="1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9" name="Picture 8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1C0ABE5F-906F-F2C5-1B29-8C52774179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71"/>
          <a:stretch>
            <a:fillRect/>
          </a:stretch>
        </p:blipFill>
        <p:spPr>
          <a:xfrm>
            <a:off x="4979043" y="966757"/>
            <a:ext cx="4530638" cy="5705416"/>
          </a:xfrm>
          <a:prstGeom prst="rect">
            <a:avLst/>
          </a:prstGeom>
        </p:spPr>
      </p:pic>
      <p:pic>
        <p:nvPicPr>
          <p:cNvPr id="11" name="Picture 10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ECAEC13B-0367-34AB-C93F-D74D051A12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730"/>
          <a:stretch>
            <a:fillRect/>
          </a:stretch>
        </p:blipFill>
        <p:spPr>
          <a:xfrm>
            <a:off x="497165" y="955696"/>
            <a:ext cx="4481878" cy="57054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B54856-F2DE-6443-B962-FDFCC499D529}"/>
              </a:ext>
            </a:extLst>
          </p:cNvPr>
          <p:cNvSpPr txBox="1"/>
          <p:nvPr/>
        </p:nvSpPr>
        <p:spPr>
          <a:xfrm>
            <a:off x="9535277" y="3285184"/>
            <a:ext cx="24758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ALEPH fit ranges were used as baseline then tweaked</a:t>
            </a:r>
            <a:endParaRPr lang="en-GB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448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098B8-5A51-ACA6-608E-49E6798CA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61291F3-1BB4-C35E-312B-F2E1AE6E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Extracted </a:t>
            </a:r>
            <a:r>
              <a:rPr lang="el-GR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α</a:t>
            </a:r>
            <a:r>
              <a:rPr lang="en-US" sz="2800" b="1" baseline="-250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</a:t>
            </a:r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values </a:t>
            </a:r>
            <a:endParaRPr lang="en-IN" sz="2800" b="1" baseline="-25000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06EF6B-D581-C510-40B7-0CCA928A8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056" y="955696"/>
            <a:ext cx="4135101" cy="2652973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0B01DD6-FFC2-F747-98AE-8A3941CD1A9E}"/>
              </a:ext>
            </a:extLst>
          </p:cNvPr>
          <p:cNvSpPr/>
          <p:nvPr/>
        </p:nvSpPr>
        <p:spPr>
          <a:xfrm>
            <a:off x="5390187" y="1722612"/>
            <a:ext cx="526648" cy="202557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D59583-82AC-4348-9B78-99047F245657}"/>
              </a:ext>
            </a:extLst>
          </p:cNvPr>
          <p:cNvSpPr/>
          <p:nvPr/>
        </p:nvSpPr>
        <p:spPr>
          <a:xfrm>
            <a:off x="5390187" y="2414471"/>
            <a:ext cx="526648" cy="202557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7DDE272-2B54-749B-0B97-A2C8E58BB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6" y="3950345"/>
            <a:ext cx="4810751" cy="24410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923E6C4-7142-B56D-4825-212A909673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1129" y="3950345"/>
            <a:ext cx="6096964" cy="23104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0D972-E867-9EB3-6F44-B591D07E6C33}"/>
              </a:ext>
            </a:extLst>
          </p:cNvPr>
          <p:cNvSpPr txBox="1"/>
          <p:nvPr/>
        </p:nvSpPr>
        <p:spPr>
          <a:xfrm>
            <a:off x="69643" y="6477860"/>
            <a:ext cx="60969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G. Dissertori, A. G.-D. Ridder, T. Gehrmann, E. Glover, G. Heinrich, G. </a:t>
            </a:r>
            <a:r>
              <a:rPr lang="en-GB" sz="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Luisoni</a:t>
            </a:r>
            <a:r>
              <a:rPr lang="en-GB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H. Stenzel, Determination of the strong coupling constant using matched </a:t>
            </a:r>
            <a:r>
              <a:rPr lang="en-GB" sz="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nnlo+nlla</a:t>
            </a:r>
            <a:r>
              <a:rPr lang="en-GB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predictions for hadronic event shapes in e+e annihilations, Journal of High Energy Physics 2009,036–036 (2009).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129428-2EB3-085A-91A0-3AA8B7FB8C8D}"/>
              </a:ext>
            </a:extLst>
          </p:cNvPr>
          <p:cNvSpPr/>
          <p:nvPr/>
        </p:nvSpPr>
        <p:spPr>
          <a:xfrm>
            <a:off x="1576332" y="5227307"/>
            <a:ext cx="526648" cy="202557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BCA996A-F9D2-518D-E556-D1FA92D96612}"/>
              </a:ext>
            </a:extLst>
          </p:cNvPr>
          <p:cNvSpPr/>
          <p:nvPr/>
        </p:nvSpPr>
        <p:spPr>
          <a:xfrm>
            <a:off x="2276600" y="5227307"/>
            <a:ext cx="526648" cy="202557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F649F05-9921-63D3-5F04-4058C371AC9D}"/>
              </a:ext>
            </a:extLst>
          </p:cNvPr>
          <p:cNvSpPr/>
          <p:nvPr/>
        </p:nvSpPr>
        <p:spPr>
          <a:xfrm>
            <a:off x="6108781" y="1722612"/>
            <a:ext cx="526648" cy="202557"/>
          </a:xfrm>
          <a:prstGeom prst="roundRect">
            <a:avLst/>
          </a:prstGeom>
          <a:noFill/>
          <a:ln w="28575">
            <a:solidFill>
              <a:srgbClr val="009B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C1CF053-B110-0944-41FA-3D1C93D57F97}"/>
              </a:ext>
            </a:extLst>
          </p:cNvPr>
          <p:cNvSpPr/>
          <p:nvPr/>
        </p:nvSpPr>
        <p:spPr>
          <a:xfrm>
            <a:off x="6108781" y="2414471"/>
            <a:ext cx="526648" cy="202557"/>
          </a:xfrm>
          <a:prstGeom prst="roundRect">
            <a:avLst/>
          </a:prstGeom>
          <a:noFill/>
          <a:ln w="28575">
            <a:solidFill>
              <a:srgbClr val="009B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35675F7-8FAF-E05C-C681-DA52487F19DF}"/>
              </a:ext>
            </a:extLst>
          </p:cNvPr>
          <p:cNvSpPr/>
          <p:nvPr/>
        </p:nvSpPr>
        <p:spPr>
          <a:xfrm>
            <a:off x="8001245" y="4260822"/>
            <a:ext cx="526648" cy="202557"/>
          </a:xfrm>
          <a:prstGeom prst="roundRect">
            <a:avLst/>
          </a:prstGeom>
          <a:noFill/>
          <a:ln w="28575">
            <a:solidFill>
              <a:srgbClr val="009B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3D29EF-2DD2-8B09-21DD-FEB45D54E6DE}"/>
              </a:ext>
            </a:extLst>
          </p:cNvPr>
          <p:cNvSpPr txBox="1"/>
          <p:nvPr/>
        </p:nvSpPr>
        <p:spPr>
          <a:xfrm>
            <a:off x="610040" y="3671866"/>
            <a:ext cx="47801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(Dissertori*) Contributions of event shapes to NNLO value</a:t>
            </a:r>
            <a:endParaRPr lang="en-GB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309979-8113-5494-5EAB-45F0D29DAAF4}"/>
              </a:ext>
            </a:extLst>
          </p:cNvPr>
          <p:cNvSpPr txBox="1"/>
          <p:nvPr/>
        </p:nvSpPr>
        <p:spPr>
          <a:xfrm>
            <a:off x="5691128" y="3671866"/>
            <a:ext cx="6096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(Dissertori*) Extracted NNLO values at LEP-II energies</a:t>
            </a:r>
            <a:endParaRPr lang="en-GB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9BD2A66-FF82-B699-EB94-5B7E2E072BBA}"/>
              </a:ext>
            </a:extLst>
          </p:cNvPr>
          <p:cNvSpPr/>
          <p:nvPr/>
        </p:nvSpPr>
        <p:spPr>
          <a:xfrm>
            <a:off x="8637853" y="4260822"/>
            <a:ext cx="526648" cy="202557"/>
          </a:xfrm>
          <a:prstGeom prst="roundRect">
            <a:avLst/>
          </a:prstGeom>
          <a:noFill/>
          <a:ln w="28575">
            <a:solidFill>
              <a:srgbClr val="009B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097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713EC-85A8-02CD-AC73-84AE37A46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CCDAEAC-F4DA-CDF9-1710-991D6B3AB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Energy evolution</a:t>
            </a:r>
            <a:endParaRPr lang="en-IN" sz="2800" b="1" baseline="-25000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9" name="Picture 8" descr="A graph of a function&#10;&#10;AI-generated content may be incorrect.">
            <a:extLst>
              <a:ext uri="{FF2B5EF4-FFF2-40B4-BE49-F238E27FC236}">
                <a16:creationId xmlns:a16="http://schemas.microsoft.com/office/drawing/2014/main" id="{86F2D36A-AD82-3FED-43E1-7B9DF6BE04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476" y="1041721"/>
            <a:ext cx="3650346" cy="532456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469F626-C38C-6F38-718B-C30F3C576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864" y="1041721"/>
            <a:ext cx="3449059" cy="5324565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23D9F34-2795-283D-5235-15F41E49A798}"/>
              </a:ext>
            </a:extLst>
          </p:cNvPr>
          <p:cNvSpPr/>
          <p:nvPr/>
        </p:nvSpPr>
        <p:spPr>
          <a:xfrm>
            <a:off x="2031649" y="4810294"/>
            <a:ext cx="239442" cy="202557"/>
          </a:xfrm>
          <a:prstGeom prst="roundRect">
            <a:avLst/>
          </a:prstGeom>
          <a:noFill/>
          <a:ln w="28575">
            <a:solidFill>
              <a:srgbClr val="009B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D40C492-110E-879F-3D9E-0387E6BEA920}"/>
              </a:ext>
            </a:extLst>
          </p:cNvPr>
          <p:cNvSpPr/>
          <p:nvPr/>
        </p:nvSpPr>
        <p:spPr>
          <a:xfrm>
            <a:off x="7269193" y="3380821"/>
            <a:ext cx="239442" cy="202557"/>
          </a:xfrm>
          <a:prstGeom prst="roundRect">
            <a:avLst/>
          </a:prstGeom>
          <a:noFill/>
          <a:ln w="28575">
            <a:solidFill>
              <a:srgbClr val="009B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A4CCC4-9B2F-CDD1-B155-2D1942ED1F60}"/>
              </a:ext>
            </a:extLst>
          </p:cNvPr>
          <p:cNvCxnSpPr>
            <a:cxnSpLocks/>
            <a:stCxn id="15" idx="3"/>
            <a:endCxn id="20" idx="1"/>
          </p:cNvCxnSpPr>
          <p:nvPr/>
        </p:nvCxnSpPr>
        <p:spPr>
          <a:xfrm flipV="1">
            <a:off x="2271091" y="3482100"/>
            <a:ext cx="4998102" cy="1429473"/>
          </a:xfrm>
          <a:prstGeom prst="straightConnector1">
            <a:avLst/>
          </a:prstGeom>
          <a:ln w="38100">
            <a:solidFill>
              <a:srgbClr val="009B0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A060FA3-307C-9280-C329-990A56507E0C}"/>
              </a:ext>
            </a:extLst>
          </p:cNvPr>
          <p:cNvSpPr txBox="1"/>
          <p:nvPr/>
        </p:nvSpPr>
        <p:spPr>
          <a:xfrm>
            <a:off x="69643" y="6477860"/>
            <a:ext cx="609696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ALEPH, Studies of QCD at ee centre-of-mass energies between 91-GeV and 209-GeV, Eur. Phys. J. C 35, 457 (2004).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857673F1-CDEF-50E5-313C-4AF2FB780E27}"/>
              </a:ext>
            </a:extLst>
          </p:cNvPr>
          <p:cNvSpPr/>
          <p:nvPr/>
        </p:nvSpPr>
        <p:spPr>
          <a:xfrm>
            <a:off x="3521156" y="5220182"/>
            <a:ext cx="150471" cy="214132"/>
          </a:xfrm>
          <a:prstGeom prst="rightBrac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l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4064905-98C9-B718-58E9-A93B76F0F3CA}"/>
              </a:ext>
            </a:extLst>
          </p:cNvPr>
          <p:cNvSpPr/>
          <p:nvPr/>
        </p:nvSpPr>
        <p:spPr>
          <a:xfrm>
            <a:off x="4508864" y="6180881"/>
            <a:ext cx="1194120" cy="185405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65A6EF-1F09-2F3E-259A-E8389377F906}"/>
              </a:ext>
            </a:extLst>
          </p:cNvPr>
          <p:cNvCxnSpPr>
            <a:cxnSpLocks/>
            <a:stCxn id="8" idx="1"/>
            <a:endCxn id="11" idx="1"/>
          </p:cNvCxnSpPr>
          <p:nvPr/>
        </p:nvCxnSpPr>
        <p:spPr>
          <a:xfrm>
            <a:off x="3671627" y="5327248"/>
            <a:ext cx="837237" cy="9463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542ED28C-94C4-1F42-33A9-F148F8960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931" y="1873378"/>
            <a:ext cx="3876155" cy="3038194"/>
          </a:xfrm>
          <a:prstGeom prst="rect">
            <a:avLst/>
          </a:prstGeom>
          <a:ln w="28575">
            <a:solidFill>
              <a:srgbClr val="C00000"/>
            </a:solidFill>
          </a:ln>
        </p:spPr>
      </p:pic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DC9F3B8-C496-833C-FFA8-BFA17FE084D3}"/>
              </a:ext>
            </a:extLst>
          </p:cNvPr>
          <p:cNvCxnSpPr>
            <a:cxnSpLocks/>
            <a:stCxn id="11" idx="2"/>
            <a:endCxn id="22" idx="2"/>
          </p:cNvCxnSpPr>
          <p:nvPr/>
        </p:nvCxnSpPr>
        <p:spPr>
          <a:xfrm rot="5400000" flipH="1" flipV="1">
            <a:off x="6862109" y="3155386"/>
            <a:ext cx="1454714" cy="4967085"/>
          </a:xfrm>
          <a:prstGeom prst="bentConnector3">
            <a:avLst>
              <a:gd name="adj1" fmla="val -15714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2591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E5700-FCD7-A280-AC7A-66985E5F6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DDE2750D-35B7-0BA8-5741-01560B3BD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76" y="1571261"/>
            <a:ext cx="5066518" cy="4548852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A17505C-1F73-72FB-929E-50574761E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Energy evolution – Code</a:t>
            </a:r>
            <a:endParaRPr lang="en-IN" sz="2800" b="1" baseline="-25000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0A7B26-9877-B096-5650-27666B820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819" y="2582819"/>
            <a:ext cx="5864933" cy="2525733"/>
          </a:xfrm>
          <a:prstGeom prst="rect">
            <a:avLst/>
          </a:prstGeom>
          <a:ln w="28575">
            <a:solidFill>
              <a:srgbClr val="C00000"/>
            </a:solidFill>
          </a:ln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467369B-A979-69D2-2888-8FD51365B414}"/>
              </a:ext>
            </a:extLst>
          </p:cNvPr>
          <p:cNvSpPr/>
          <p:nvPr/>
        </p:nvSpPr>
        <p:spPr>
          <a:xfrm>
            <a:off x="374248" y="3385595"/>
            <a:ext cx="2594658" cy="460094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D8AE99A-6A3D-7E5C-0E9B-A2E736DC07E9}"/>
              </a:ext>
            </a:extLst>
          </p:cNvPr>
          <p:cNvCxnSpPr>
            <a:cxnSpLocks/>
            <a:stCxn id="14" idx="2"/>
            <a:endCxn id="6" idx="1"/>
          </p:cNvCxnSpPr>
          <p:nvPr/>
        </p:nvCxnSpPr>
        <p:spPr>
          <a:xfrm rot="5400000" flipH="1" flipV="1">
            <a:off x="3812196" y="1705067"/>
            <a:ext cx="3" cy="4281242"/>
          </a:xfrm>
          <a:prstGeom prst="bentConnector4">
            <a:avLst>
              <a:gd name="adj1" fmla="val -7620000000"/>
              <a:gd name="adj2" fmla="val 87861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67250C0-D6AE-A6DF-7BEF-70F0ABFB7FB8}"/>
              </a:ext>
            </a:extLst>
          </p:cNvPr>
          <p:cNvSpPr txBox="1"/>
          <p:nvPr/>
        </p:nvSpPr>
        <p:spPr>
          <a:xfrm>
            <a:off x="6495211" y="2104089"/>
            <a:ext cx="47801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Constructing 3-loop running with </a:t>
            </a:r>
            <a:r>
              <a:rPr lang="el-G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band similar to ALEPH</a:t>
            </a:r>
            <a:endParaRPr lang="en-GB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6072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53D06-DDC4-8841-EF32-3494315F3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C0B32A7-1408-4075-E684-95C3F9E53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Summary of results</a:t>
            </a:r>
            <a:endParaRPr lang="en-IN" sz="2800" b="1" baseline="-25000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35ADAEE-B51F-5F81-317E-B3497BF22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647" y="1623387"/>
            <a:ext cx="6060580" cy="3888310"/>
          </a:xfrm>
          <a:prstGeom prst="rect">
            <a:avLst/>
          </a:prstGeom>
        </p:spPr>
      </p:pic>
      <p:pic>
        <p:nvPicPr>
          <p:cNvPr id="3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245C9054-D671-B63D-3B05-8634CCA010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9924" y="446976"/>
            <a:ext cx="4278713" cy="6241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988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A479A-62CE-DC6E-749F-050390977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06A551D-4ACA-0242-CF27-CC4BAC06B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Summary of questions</a:t>
            </a:r>
            <a:endParaRPr lang="en-IN" sz="2800" b="1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1CD0A-8113-9427-0839-D10BBC30F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75" y="1064608"/>
            <a:ext cx="7068213" cy="5571142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Are there potential issues with the overall procedure in general?</a:t>
            </a:r>
            <a:endParaRPr lang="en-US" sz="1400" dirty="0">
              <a:solidFill>
                <a:srgbClr val="C00000"/>
              </a:solidFill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Is it correct to use the same theory coefficients (A,B,C) for fitting at all energy levels?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Is there a standard procedure for selecting the fit ranges for (1–T) and C?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Are the deviations in our values within expectations considering NNLO?</a:t>
            </a:r>
          </a:p>
        </p:txBody>
      </p:sp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C89B8D22-4751-383B-359B-79E112E5BE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119"/>
          <a:stretch>
            <a:fillRect/>
          </a:stretch>
        </p:blipFill>
        <p:spPr>
          <a:xfrm>
            <a:off x="8186850" y="299104"/>
            <a:ext cx="3824236" cy="654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51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57FE3-CB1E-9BA4-1FB3-6EEDB6BAC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DE7E88-E5D1-937D-9EF6-C98891D2373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0E3C629-F6E6-EDAB-FE9B-DCB93349AD01}"/>
              </a:ext>
            </a:extLst>
          </p:cNvPr>
          <p:cNvSpPr txBox="1">
            <a:spLocks/>
          </p:cNvSpPr>
          <p:nvPr/>
        </p:nvSpPr>
        <p:spPr>
          <a:xfrm>
            <a:off x="200829" y="344910"/>
            <a:ext cx="11790342" cy="349209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sz="5400" b="1" dirty="0">
                <a:solidFill>
                  <a:schemeClr val="bg1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Backup</a:t>
            </a:r>
          </a:p>
        </p:txBody>
      </p:sp>
    </p:spTree>
    <p:extLst>
      <p:ext uri="{BB962C8B-B14F-4D97-AF65-F5344CB8AC3E}">
        <p14:creationId xmlns:p14="http://schemas.microsoft.com/office/powerpoint/2010/main" val="1489317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41B6-AC70-48C3-6BF2-9980E19FF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1311BFD-DFD2-BEED-EEEF-742F2EC83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Workflow – TF1 functions</a:t>
            </a:r>
            <a:endParaRPr lang="en-IN" sz="2800" b="1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E899C-22CF-5D12-BE9F-A6BB295A0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76" y="1155360"/>
            <a:ext cx="11804610" cy="338534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ED83112-FA01-F4CA-EDF0-2E1D7CDB2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988" y="4594185"/>
            <a:ext cx="4227586" cy="2075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01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42AEC-8303-7147-5D3E-2BAEF104A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EE84ED-D04E-DBDA-E466-261606704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476" y="188780"/>
            <a:ext cx="11804610" cy="766916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Paper overview</a:t>
            </a:r>
            <a:endParaRPr lang="en-IN" sz="2800" b="1" dirty="0">
              <a:latin typeface="Times New Roman" panose="02020603050405020304" pitchFamily="18" charset="0"/>
              <a:ea typeface="Arial Unicode MS" panose="020B060402020202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7BC2C7-145E-4EEB-4843-DE7B6D7C75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76" y="1064608"/>
            <a:ext cx="5889524" cy="5571142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QCD in </a:t>
            </a:r>
            <a:r>
              <a:rPr lang="en-US" sz="1400" i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</a:t>
            </a:r>
            <a:r>
              <a:rPr lang="en-US" sz="1400" i="1" baseline="300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+</a:t>
            </a:r>
            <a:r>
              <a:rPr lang="en-US" sz="1400" i="1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</a:t>
            </a:r>
            <a:r>
              <a:rPr lang="en-US" sz="1400" i="1" baseline="300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–</a:t>
            </a: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 annihilations</a:t>
            </a:r>
          </a:p>
          <a:p>
            <a:pPr lvl="1">
              <a:spcAft>
                <a:spcPts val="600"/>
              </a:spcAft>
            </a:pP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features</a:t>
            </a:r>
          </a:p>
          <a:p>
            <a:pPr lvl="1">
              <a:spcAft>
                <a:spcPts val="600"/>
              </a:spcAft>
            </a:pPr>
            <a:r>
              <a:rPr lang="en-GB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shape observables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Event generation</a:t>
            </a:r>
          </a:p>
          <a:p>
            <a:pPr lvl="1"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Process selections</a:t>
            </a:r>
          </a:p>
          <a:p>
            <a:pPr lvl="1"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PYTHIA calibration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Experimental distortions</a:t>
            </a:r>
          </a:p>
          <a:p>
            <a:pPr lvl="1"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QED radiation</a:t>
            </a:r>
          </a:p>
          <a:p>
            <a:pPr lvl="1"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Electroweak backgrounds</a:t>
            </a: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C00000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Determination of </a:t>
            </a:r>
            <a:r>
              <a:rPr lang="el-GR" sz="1400" b="1" dirty="0">
                <a:solidFill>
                  <a:srgbClr val="C00000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α</a:t>
            </a:r>
            <a:r>
              <a:rPr lang="en-US" sz="1400" b="1" baseline="-25000" dirty="0">
                <a:solidFill>
                  <a:srgbClr val="C00000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s</a:t>
            </a:r>
          </a:p>
          <a:p>
            <a:pPr lvl="1">
              <a:spcAft>
                <a:spcPts val="600"/>
              </a:spcAft>
            </a:pPr>
            <a:r>
              <a:rPr lang="en-US" sz="1400" b="1" dirty="0">
                <a:solidFill>
                  <a:srgbClr val="C00000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Theoretical description</a:t>
            </a:r>
          </a:p>
          <a:p>
            <a:pPr lvl="1">
              <a:spcAft>
                <a:spcPts val="600"/>
              </a:spcAft>
            </a:pPr>
            <a:r>
              <a:rPr lang="en-US" sz="1400" b="1" dirty="0">
                <a:solidFill>
                  <a:srgbClr val="C00000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Fitting procedure</a:t>
            </a:r>
          </a:p>
          <a:p>
            <a:pPr lvl="1">
              <a:spcAft>
                <a:spcPts val="600"/>
              </a:spcAft>
            </a:pPr>
            <a:r>
              <a:rPr lang="en-US" sz="1400" b="1" dirty="0">
                <a:solidFill>
                  <a:srgbClr val="C00000"/>
                </a:solidFill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Energy evolution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Inclusive Hadron Spectra</a:t>
            </a:r>
          </a:p>
          <a:p>
            <a:pPr lvl="1"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Charged hadron multiplicity</a:t>
            </a:r>
          </a:p>
          <a:p>
            <a:pPr lvl="1">
              <a:spcAft>
                <a:spcPts val="600"/>
              </a:spcAft>
            </a:pPr>
            <a:r>
              <a:rPr lang="en-US" sz="1400" dirty="0">
                <a:latin typeface="Times New Roman" panose="02020603050405020304" pitchFamily="18" charset="0"/>
                <a:ea typeface="Arial Unicode MS" panose="020B0604020202020204" pitchFamily="34" charset="-128"/>
                <a:cs typeface="Times New Roman" panose="02020603050405020304" pitchFamily="18" charset="0"/>
              </a:rPr>
              <a:t>Momentum distributions and peaks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837DA2-9607-E26E-10F8-A0BD454D8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13" y="1562318"/>
            <a:ext cx="5187307" cy="3530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443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20599</TotalTime>
  <Words>482</Words>
  <Application>Microsoft Office PowerPoint</Application>
  <PresentationFormat>Widescreen</PresentationFormat>
  <Paragraphs>62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Times New Roman</vt:lpstr>
      <vt:lpstr>Office Theme</vt:lpstr>
      <vt:lpstr>PowerPoint Presentation</vt:lpstr>
      <vt:lpstr>Overview</vt:lpstr>
      <vt:lpstr>Validation with LEP data (5M samples with hadronisation)</vt:lpstr>
      <vt:lpstr>Theory functions</vt:lpstr>
      <vt:lpstr>Theory coefficients</vt:lpstr>
      <vt:lpstr>TF1 fits in ROOT</vt:lpstr>
      <vt:lpstr>Extracted αs values </vt:lpstr>
      <vt:lpstr>Energy evolution</vt:lpstr>
      <vt:lpstr>Energy evolution – Code</vt:lpstr>
      <vt:lpstr>Summary of results</vt:lpstr>
      <vt:lpstr>Summary of questions</vt:lpstr>
      <vt:lpstr>PowerPoint Presentation</vt:lpstr>
      <vt:lpstr>Workflow – TF1 functions</vt:lpstr>
      <vt:lpstr>Paper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Philip Mathew</dc:creator>
  <cp:lastModifiedBy>Philip Mathew</cp:lastModifiedBy>
  <cp:revision>3096</cp:revision>
  <dcterms:created xsi:type="dcterms:W3CDTF">2024-11-21T11:19:07Z</dcterms:created>
  <dcterms:modified xsi:type="dcterms:W3CDTF">2025-11-14T10:41:24Z</dcterms:modified>
</cp:coreProperties>
</file>