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95" r:id="rId2"/>
    <p:sldId id="497" r:id="rId3"/>
    <p:sldId id="499" r:id="rId4"/>
    <p:sldId id="500" r:id="rId5"/>
    <p:sldId id="498" r:id="rId6"/>
    <p:sldId id="501" r:id="rId7"/>
    <p:sldId id="502" r:id="rId8"/>
    <p:sldId id="504" r:id="rId9"/>
    <p:sldId id="50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01"/>
    <a:srgbClr val="990000"/>
    <a:srgbClr val="FF0000"/>
    <a:srgbClr val="5B9BD5"/>
    <a:srgbClr val="1F4E79"/>
    <a:srgbClr val="203864"/>
    <a:srgbClr val="0070C0"/>
    <a:srgbClr val="00008C"/>
    <a:srgbClr val="6D6D2B"/>
    <a:srgbClr val="9E9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01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5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20C66-05F9-4FC2-8866-8533A9375BA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CA468-388C-47D7-9925-09019A2062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42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147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49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14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902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76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66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25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12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94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39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3A2CB-D467-4583-BEBA-5A75E3413D57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45427-BEBB-4AB0-9F34-3E8A29AED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20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AA66-9BEB-C368-73D2-C0111BFCE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6F1163E3-8396-4D22-271F-1E87C18EA6A7}"/>
              </a:ext>
            </a:extLst>
          </p:cNvPr>
          <p:cNvSpPr txBox="1">
            <a:spLocks/>
          </p:cNvSpPr>
          <p:nvPr/>
        </p:nvSpPr>
        <p:spPr>
          <a:xfrm>
            <a:off x="200829" y="344910"/>
            <a:ext cx="11790342" cy="63163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Extraction of </a:t>
            </a:r>
            <a:r>
              <a:rPr lang="el-GR" sz="5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α</a:t>
            </a:r>
            <a:r>
              <a:rPr lang="en-US" sz="54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</a:t>
            </a:r>
            <a:r>
              <a:rPr lang="en-US" sz="5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from Event Shapes</a:t>
            </a:r>
          </a:p>
          <a:p>
            <a:pPr algn="ctr">
              <a:lnSpc>
                <a:spcPct val="100000"/>
              </a:lnSpc>
            </a:pPr>
            <a:r>
              <a:rPr lang="en-US" sz="4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14</a:t>
            </a:r>
            <a:r>
              <a:rPr lang="en-US" sz="2800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November 2025</a:t>
            </a:r>
          </a:p>
          <a:p>
            <a:pPr algn="ctr">
              <a:lnSpc>
                <a:spcPct val="100000"/>
              </a:lnSpc>
            </a:pPr>
            <a:endParaRPr lang="en-US" sz="4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US" sz="4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4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26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7550-0662-0AC3-6AC2-F9A57F27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96B929-CF88-04D5-A0FC-1E83AC05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188780"/>
            <a:ext cx="11804610" cy="76691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Paper overview</a:t>
            </a:r>
            <a:endParaRPr lang="en-IN" sz="2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4ECE2-3F70-5495-4807-D2B4AEA43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6" y="1064608"/>
            <a:ext cx="5889524" cy="5571142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QCD in </a:t>
            </a:r>
            <a:r>
              <a:rPr lang="en-US" sz="1400" i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</a:t>
            </a:r>
            <a:r>
              <a:rPr lang="en-US" sz="1400" i="1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+</a:t>
            </a:r>
            <a:r>
              <a:rPr lang="en-US" sz="1400" i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</a:t>
            </a:r>
            <a:r>
              <a:rPr lang="en-US" sz="1400" i="1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–</a:t>
            </a: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annihilations</a:t>
            </a:r>
          </a:p>
          <a:p>
            <a:pPr lvl="1">
              <a:spcAft>
                <a:spcPts val="600"/>
              </a:spcAft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features</a:t>
            </a:r>
          </a:p>
          <a:p>
            <a:pPr lvl="1">
              <a:spcAft>
                <a:spcPts val="600"/>
              </a:spcAft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shape observables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Event generation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Process selections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PYTHIA calibration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Experimental distortions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QED radiation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Electroweak backgrounds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Determination of </a:t>
            </a:r>
            <a:r>
              <a:rPr lang="el-G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α</a:t>
            </a:r>
            <a:r>
              <a:rPr lang="en-US" sz="14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Theoretical description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Fitting procedure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Energy evolution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Inclusive Hadron Spectra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Charged hadron multiplicity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Momentum distributions and peaks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FECB16-E955-DD18-665D-2D9E9FDD6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13" y="1562318"/>
            <a:ext cx="5187307" cy="353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25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37A6-D2E8-E9AE-2074-A1EF3B02A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4D1469-70A8-1B41-9EDE-5BB5EF62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188780"/>
            <a:ext cx="11804610" cy="76691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Workflow – Theory coefficients</a:t>
            </a:r>
            <a:endParaRPr lang="en-IN" sz="2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5FB75B-D2A0-232C-66D9-490E56AA6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0" y="3782578"/>
            <a:ext cx="5021027" cy="2527728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DCAA49-082F-3988-C235-FEF8F8B74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" y="1209734"/>
            <a:ext cx="2511707" cy="2527728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1AD91B-327D-4EDF-FA9D-2C8D184B2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579" y="1268213"/>
            <a:ext cx="2209704" cy="5316016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25CB18-9547-E3AE-3E42-18EAABCA9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013" y="1268214"/>
            <a:ext cx="3643327" cy="5316016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F5F3DB-9FF3-7671-2D56-2694E9A774AD}"/>
              </a:ext>
            </a:extLst>
          </p:cNvPr>
          <p:cNvCxnSpPr>
            <a:stCxn id="10" idx="3"/>
          </p:cNvCxnSpPr>
          <p:nvPr/>
        </p:nvCxnSpPr>
        <p:spPr>
          <a:xfrm>
            <a:off x="5084687" y="5046442"/>
            <a:ext cx="1068892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9AA5FA-0153-9C7B-E48E-19374E916489}"/>
              </a:ext>
            </a:extLst>
          </p:cNvPr>
          <p:cNvSpPr txBox="1"/>
          <p:nvPr/>
        </p:nvSpPr>
        <p:spPr>
          <a:xfrm>
            <a:off x="2621861" y="3136247"/>
            <a:ext cx="2511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Unbarred coefficients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Weinzierl *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89C30E-40BE-158F-7056-349A49BE35D7}"/>
              </a:ext>
            </a:extLst>
          </p:cNvPr>
          <p:cNvSpPr txBox="1"/>
          <p:nvPr/>
        </p:nvSpPr>
        <p:spPr>
          <a:xfrm>
            <a:off x="6153579" y="842489"/>
            <a:ext cx="597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structure for coefficients of Thrust and C-parameter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5087A1-528C-27FC-39F5-FEA648A25880}"/>
              </a:ext>
            </a:extLst>
          </p:cNvPr>
          <p:cNvSpPr txBox="1"/>
          <p:nvPr/>
        </p:nvSpPr>
        <p:spPr>
          <a:xfrm>
            <a:off x="69643" y="6564345"/>
            <a:ext cx="609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S. Weinzierl, Event shapes and jet rates in electron-positron annihilation at NNLO, Journal of High Energy Physics 2009, 041–041 (2009)</a:t>
            </a:r>
          </a:p>
        </p:txBody>
      </p:sp>
    </p:spTree>
    <p:extLst>
      <p:ext uri="{BB962C8B-B14F-4D97-AF65-F5344CB8AC3E}">
        <p14:creationId xmlns:p14="http://schemas.microsoft.com/office/powerpoint/2010/main" val="327618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36077-6776-5546-D023-8F72499E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F283F346-BB06-1B3B-21F2-4C5AF4CDF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460" y="631545"/>
            <a:ext cx="3521204" cy="5227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7901AE1-39D6-6B73-4687-62B5C84D2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188780"/>
            <a:ext cx="11804610" cy="76691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Workflow – Theory functions</a:t>
            </a:r>
            <a:endParaRPr lang="en-IN" sz="2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55EC8-2F90-8584-BAC5-FE7718935A44}"/>
              </a:ext>
            </a:extLst>
          </p:cNvPr>
          <p:cNvSpPr txBox="1"/>
          <p:nvPr/>
        </p:nvSpPr>
        <p:spPr>
          <a:xfrm>
            <a:off x="181463" y="1226594"/>
            <a:ext cx="5199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Perturbative expansion with barred coefficients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3C3FA1-FDBE-08DD-CB13-11F04206D5E2}"/>
              </a:ext>
            </a:extLst>
          </p:cNvPr>
          <p:cNvSpPr txBox="1"/>
          <p:nvPr/>
        </p:nvSpPr>
        <p:spPr>
          <a:xfrm>
            <a:off x="7218461" y="323767"/>
            <a:ext cx="3521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function for (1–T) and C-parameter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FACF3E-A192-EA16-9626-0023EE5C07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97"/>
          <a:stretch>
            <a:fillRect/>
          </a:stretch>
        </p:blipFill>
        <p:spPr>
          <a:xfrm>
            <a:off x="206476" y="1536953"/>
            <a:ext cx="5149575" cy="37038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359838-2D4E-365C-F674-FE3102A05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75" y="5368173"/>
            <a:ext cx="5149575" cy="967072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493887-3386-6173-77F9-66E5C2B73C91}"/>
              </a:ext>
            </a:extLst>
          </p:cNvPr>
          <p:cNvSpPr/>
          <p:nvPr/>
        </p:nvSpPr>
        <p:spPr>
          <a:xfrm>
            <a:off x="468775" y="3622876"/>
            <a:ext cx="4572000" cy="462987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AFCEDF-5319-47B5-443A-3B476861D9DB}"/>
              </a:ext>
            </a:extLst>
          </p:cNvPr>
          <p:cNvSpPr/>
          <p:nvPr/>
        </p:nvSpPr>
        <p:spPr>
          <a:xfrm>
            <a:off x="7342353" y="4866104"/>
            <a:ext cx="3397312" cy="462987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A4BD02-CA58-42F1-F570-EB0DA8F06D0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5040775" y="3854370"/>
            <a:ext cx="2301578" cy="124322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CAF675-7122-C7F5-5F0A-5D5AF499FEED}"/>
              </a:ext>
            </a:extLst>
          </p:cNvPr>
          <p:cNvSpPr/>
          <p:nvPr/>
        </p:nvSpPr>
        <p:spPr>
          <a:xfrm>
            <a:off x="7342353" y="4242121"/>
            <a:ext cx="2177685" cy="566842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220852-3D89-07F1-CA71-0B6686C2BA9D}"/>
              </a:ext>
            </a:extLst>
          </p:cNvPr>
          <p:cNvSpPr/>
          <p:nvPr/>
        </p:nvSpPr>
        <p:spPr>
          <a:xfrm>
            <a:off x="1496472" y="4601935"/>
            <a:ext cx="2569580" cy="638917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857057-2D64-8BF1-5722-90598F0DAD21}"/>
              </a:ext>
            </a:extLst>
          </p:cNvPr>
          <p:cNvSpPr txBox="1"/>
          <p:nvPr/>
        </p:nvSpPr>
        <p:spPr>
          <a:xfrm>
            <a:off x="8150829" y="5479544"/>
            <a:ext cx="2154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divide by bin width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2700FDB-62C8-7A35-2922-DF423E5F3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428" y="6032523"/>
            <a:ext cx="5505658" cy="461110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317410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C41B6-AC70-48C3-6BF2-9980E19F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311BFD-DFD2-BEED-EEEF-742F2EC8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188780"/>
            <a:ext cx="11804610" cy="76691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Workflow – TF1 functions</a:t>
            </a:r>
            <a:endParaRPr lang="en-IN" sz="2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2E899C-22CF-5D12-BE9F-A6BB295A0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6" y="1155360"/>
            <a:ext cx="11804610" cy="33853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D83112-FA01-F4CA-EDF0-2E1D7CDB2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988" y="4594185"/>
            <a:ext cx="4227586" cy="207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0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C6D9-E29D-7522-2D2A-A74439CDE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923478-951F-47B1-472C-B2CF511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188780"/>
            <a:ext cx="11804610" cy="76691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Results – TF1 fits</a:t>
            </a:r>
            <a:endParaRPr lang="en-IN" sz="2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9" name="Picture 8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1C0ABE5F-906F-F2C5-1B29-8C52774179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71"/>
          <a:stretch>
            <a:fillRect/>
          </a:stretch>
        </p:blipFill>
        <p:spPr>
          <a:xfrm>
            <a:off x="6003317" y="966757"/>
            <a:ext cx="3910506" cy="4924486"/>
          </a:xfrm>
          <a:prstGeom prst="rect">
            <a:avLst/>
          </a:prstGeom>
        </p:spPr>
      </p:pic>
      <p:pic>
        <p:nvPicPr>
          <p:cNvPr id="11" name="Picture 10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ECAEC13B-0367-34AB-C93F-D74D051A12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30"/>
          <a:stretch>
            <a:fillRect/>
          </a:stretch>
        </p:blipFill>
        <p:spPr>
          <a:xfrm>
            <a:off x="2052031" y="966757"/>
            <a:ext cx="3868420" cy="492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48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098B8-5A51-ACA6-608E-49E6798C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1291F3-1BB4-C35E-312B-F2E1AE6E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188780"/>
            <a:ext cx="11804610" cy="76691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Results – Extracted </a:t>
            </a:r>
            <a:r>
              <a:rPr lang="el-GR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α</a:t>
            </a:r>
            <a:r>
              <a:rPr lang="en-US" sz="2800" b="1" baseline="-25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</a:t>
            </a:r>
            <a:endParaRPr lang="en-IN" sz="2800" b="1" baseline="-25000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6EF6B-D581-C510-40B7-0CCA928A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56" y="1042181"/>
            <a:ext cx="4135101" cy="265297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B01DD6-FFC2-F747-98AE-8A3941CD1A9E}"/>
              </a:ext>
            </a:extLst>
          </p:cNvPr>
          <p:cNvSpPr/>
          <p:nvPr/>
        </p:nvSpPr>
        <p:spPr>
          <a:xfrm>
            <a:off x="5390187" y="1809097"/>
            <a:ext cx="526648" cy="2025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D59583-82AC-4348-9B78-99047F245657}"/>
              </a:ext>
            </a:extLst>
          </p:cNvPr>
          <p:cNvSpPr/>
          <p:nvPr/>
        </p:nvSpPr>
        <p:spPr>
          <a:xfrm>
            <a:off x="5390187" y="2500956"/>
            <a:ext cx="526648" cy="2025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DDE272-2B54-749B-0B97-A2C8E58BB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0" y="4036830"/>
            <a:ext cx="4810751" cy="24410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23E6C4-7142-B56D-4825-212A90967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733" y="4036830"/>
            <a:ext cx="6096964" cy="2310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D0D972-E867-9EB3-6F44-B591D07E6C33}"/>
              </a:ext>
            </a:extLst>
          </p:cNvPr>
          <p:cNvSpPr txBox="1"/>
          <p:nvPr/>
        </p:nvSpPr>
        <p:spPr>
          <a:xfrm>
            <a:off x="69643" y="6564345"/>
            <a:ext cx="609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S. Weinzierl, Event shapes and jet rates in electron-positron annihilation at NNLO, Journal of High Energy Physics 2009, 041–041 (2009)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129428-2EB3-085A-91A0-3AA8B7FB8C8D}"/>
              </a:ext>
            </a:extLst>
          </p:cNvPr>
          <p:cNvSpPr/>
          <p:nvPr/>
        </p:nvSpPr>
        <p:spPr>
          <a:xfrm>
            <a:off x="1035936" y="5313792"/>
            <a:ext cx="526648" cy="2025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CA996A-F9D2-518D-E556-D1FA92D96612}"/>
              </a:ext>
            </a:extLst>
          </p:cNvPr>
          <p:cNvSpPr/>
          <p:nvPr/>
        </p:nvSpPr>
        <p:spPr>
          <a:xfrm>
            <a:off x="1736204" y="5313792"/>
            <a:ext cx="526648" cy="2025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649F05-9921-63D3-5F04-4058C371AC9D}"/>
              </a:ext>
            </a:extLst>
          </p:cNvPr>
          <p:cNvSpPr/>
          <p:nvPr/>
        </p:nvSpPr>
        <p:spPr>
          <a:xfrm>
            <a:off x="6108781" y="1809097"/>
            <a:ext cx="526648" cy="202557"/>
          </a:xfrm>
          <a:prstGeom prst="roundRect">
            <a:avLst/>
          </a:prstGeom>
          <a:noFill/>
          <a:ln w="28575">
            <a:solidFill>
              <a:srgbClr val="009B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1CF053-B110-0944-41FA-3D1C93D57F97}"/>
              </a:ext>
            </a:extLst>
          </p:cNvPr>
          <p:cNvSpPr/>
          <p:nvPr/>
        </p:nvSpPr>
        <p:spPr>
          <a:xfrm>
            <a:off x="6108781" y="2500956"/>
            <a:ext cx="526648" cy="202557"/>
          </a:xfrm>
          <a:prstGeom prst="roundRect">
            <a:avLst/>
          </a:prstGeom>
          <a:noFill/>
          <a:ln w="28575">
            <a:solidFill>
              <a:srgbClr val="009B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5675F7-8FAF-E05C-C681-DA52487F19DF}"/>
              </a:ext>
            </a:extLst>
          </p:cNvPr>
          <p:cNvSpPr/>
          <p:nvPr/>
        </p:nvSpPr>
        <p:spPr>
          <a:xfrm>
            <a:off x="7460849" y="4347307"/>
            <a:ext cx="526648" cy="202557"/>
          </a:xfrm>
          <a:prstGeom prst="roundRect">
            <a:avLst/>
          </a:prstGeom>
          <a:noFill/>
          <a:ln w="28575">
            <a:solidFill>
              <a:srgbClr val="009B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3D29EF-2DD2-8B09-21DD-FEB45D54E6DE}"/>
              </a:ext>
            </a:extLst>
          </p:cNvPr>
          <p:cNvSpPr txBox="1"/>
          <p:nvPr/>
        </p:nvSpPr>
        <p:spPr>
          <a:xfrm>
            <a:off x="69644" y="3758351"/>
            <a:ext cx="4780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(Dissertori*) Contributions of event shapes to NNLO value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309979-8113-5494-5EAB-45F0D29DAAF4}"/>
              </a:ext>
            </a:extLst>
          </p:cNvPr>
          <p:cNvSpPr txBox="1"/>
          <p:nvPr/>
        </p:nvSpPr>
        <p:spPr>
          <a:xfrm>
            <a:off x="5150732" y="3758351"/>
            <a:ext cx="6096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(Dissertori*) Extracted NNLO values at LEP-II energies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BD2A66-FF82-B699-EB94-5B7E2E072BBA}"/>
              </a:ext>
            </a:extLst>
          </p:cNvPr>
          <p:cNvSpPr/>
          <p:nvPr/>
        </p:nvSpPr>
        <p:spPr>
          <a:xfrm>
            <a:off x="8097457" y="4347307"/>
            <a:ext cx="526648" cy="202557"/>
          </a:xfrm>
          <a:prstGeom prst="roundRect">
            <a:avLst/>
          </a:prstGeom>
          <a:noFill/>
          <a:ln w="28575">
            <a:solidFill>
              <a:srgbClr val="009B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097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13EC-85A8-02CD-AC73-84AE37A4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CDAEAC-F4DA-CDF9-1710-991D6B3AB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188780"/>
            <a:ext cx="11804610" cy="76691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Results – Energy evolution</a:t>
            </a:r>
            <a:endParaRPr lang="en-IN" sz="2800" b="1" baseline="-25000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60FA3-307C-9280-C329-990A56507E0C}"/>
              </a:ext>
            </a:extLst>
          </p:cNvPr>
          <p:cNvSpPr txBox="1"/>
          <p:nvPr/>
        </p:nvSpPr>
        <p:spPr>
          <a:xfrm>
            <a:off x="69643" y="6564345"/>
            <a:ext cx="609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ALEPH, Studies of QCD at ee centre-of-mass energies between 91-GeV and 209-GeV, Eur. Phys. J. C 35, 457 (2004).</a:t>
            </a:r>
          </a:p>
        </p:txBody>
      </p:sp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86F2D36A-AD82-3FED-43E1-7B9DF6BE04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69" y="1041721"/>
            <a:ext cx="3650346" cy="53245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69F626-C38C-6F38-718B-C30F3C576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387" y="1041721"/>
            <a:ext cx="3449059" cy="5324565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3D9F34-2795-283D-5235-15F41E49A798}"/>
              </a:ext>
            </a:extLst>
          </p:cNvPr>
          <p:cNvSpPr/>
          <p:nvPr/>
        </p:nvSpPr>
        <p:spPr>
          <a:xfrm>
            <a:off x="2648442" y="4810294"/>
            <a:ext cx="239442" cy="202557"/>
          </a:xfrm>
          <a:prstGeom prst="roundRect">
            <a:avLst/>
          </a:prstGeom>
          <a:noFill/>
          <a:ln w="28575">
            <a:solidFill>
              <a:srgbClr val="009B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40C492-110E-879F-3D9E-0387E6BEA920}"/>
              </a:ext>
            </a:extLst>
          </p:cNvPr>
          <p:cNvSpPr/>
          <p:nvPr/>
        </p:nvSpPr>
        <p:spPr>
          <a:xfrm>
            <a:off x="10478716" y="3380821"/>
            <a:ext cx="239442" cy="202557"/>
          </a:xfrm>
          <a:prstGeom prst="roundRect">
            <a:avLst/>
          </a:prstGeom>
          <a:noFill/>
          <a:ln w="28575">
            <a:solidFill>
              <a:srgbClr val="009B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A4CCC4-9B2F-CDD1-B155-2D1942ED1F60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887884" y="3489767"/>
            <a:ext cx="7590832" cy="1421806"/>
          </a:xfrm>
          <a:prstGeom prst="straightConnector1">
            <a:avLst/>
          </a:prstGeom>
          <a:ln w="38100">
            <a:solidFill>
              <a:srgbClr val="009B0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591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479A-62CE-DC6E-749F-05039097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6A551D-4ACA-0242-CF27-CC4BAC06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6" y="188780"/>
            <a:ext cx="11804610" cy="76691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Summary of questions</a:t>
            </a:r>
            <a:endParaRPr lang="en-IN" sz="2800" b="1" dirty="0"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1CD0A-8113-9427-0839-D10BBC30F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6" y="1064608"/>
            <a:ext cx="5889524" cy="5571142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Regarding Topic 1:</a:t>
            </a:r>
          </a:p>
          <a:p>
            <a:pPr lvl="1">
              <a:spcAft>
                <a:spcPts val="600"/>
              </a:spcAft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1.1</a:t>
            </a:r>
          </a:p>
          <a:p>
            <a:pPr lvl="1">
              <a:spcAft>
                <a:spcPts val="600"/>
              </a:spcAft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1.2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Regarding Topic 2:</a:t>
            </a:r>
          </a:p>
          <a:p>
            <a:pPr lvl="1">
              <a:spcAft>
                <a:spcPts val="600"/>
              </a:spcAft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2.1</a:t>
            </a:r>
          </a:p>
          <a:p>
            <a:pPr lvl="1">
              <a:spcAft>
                <a:spcPts val="600"/>
              </a:spcAft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2.2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Regarding fit windows: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ALEPH ranges were used as baseline</a:t>
            </a:r>
          </a:p>
          <a:p>
            <a:pPr lvl="1"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Z-pole window needed to be shortened</a:t>
            </a:r>
          </a:p>
        </p:txBody>
      </p:sp>
    </p:spTree>
    <p:extLst>
      <p:ext uri="{BB962C8B-B14F-4D97-AF65-F5344CB8AC3E}">
        <p14:creationId xmlns:p14="http://schemas.microsoft.com/office/powerpoint/2010/main" val="3322251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20397</TotalTime>
  <Words>252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Paper overview</vt:lpstr>
      <vt:lpstr>Workflow – Theory coefficients</vt:lpstr>
      <vt:lpstr>Workflow – Theory functions</vt:lpstr>
      <vt:lpstr>Workflow – TF1 functions</vt:lpstr>
      <vt:lpstr>Results – TF1 fits</vt:lpstr>
      <vt:lpstr>Results – Extracted αs</vt:lpstr>
      <vt:lpstr>Results – Energy evolution</vt:lpstr>
      <vt:lpstr>Summary of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Philip Mathew</dc:creator>
  <cp:lastModifiedBy>Philip Mathew</cp:lastModifiedBy>
  <cp:revision>2996</cp:revision>
  <dcterms:created xsi:type="dcterms:W3CDTF">2024-11-21T11:19:07Z</dcterms:created>
  <dcterms:modified xsi:type="dcterms:W3CDTF">2025-11-11T15:42:55Z</dcterms:modified>
</cp:coreProperties>
</file>